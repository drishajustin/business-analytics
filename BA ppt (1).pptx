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80" r:id="rId1"/>
  </p:sldMasterIdLst>
  <p:sldIdLst>
    <p:sldId id="261" r:id="rId2"/>
    <p:sldId id="262" r:id="rId3"/>
    <p:sldId id="258" r:id="rId4"/>
    <p:sldId id="257" r:id="rId5"/>
    <p:sldId id="263" r:id="rId6"/>
    <p:sldId id="268" r:id="rId7"/>
    <p:sldId id="269" r:id="rId8"/>
    <p:sldId id="274" r:id="rId9"/>
    <p:sldId id="273" r:id="rId10"/>
    <p:sldId id="275" r:id="rId11"/>
    <p:sldId id="276" r:id="rId12"/>
    <p:sldId id="277" r:id="rId13"/>
    <p:sldId id="280" r:id="rId14"/>
    <p:sldId id="279" r:id="rId15"/>
    <p:sldId id="282" r:id="rId16"/>
    <p:sldId id="287" r:id="rId17"/>
    <p:sldId id="289" r:id="rId18"/>
    <p:sldId id="290" r:id="rId19"/>
    <p:sldId id="291" r:id="rId20"/>
    <p:sldId id="293" r:id="rId21"/>
    <p:sldId id="292" r:id="rId22"/>
    <p:sldId id="295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E01DAD9-ECED-4925-BA90-0E90745DAF61}">
          <p14:sldIdLst>
            <p14:sldId id="261"/>
            <p14:sldId id="262"/>
            <p14:sldId id="258"/>
            <p14:sldId id="257"/>
            <p14:sldId id="263"/>
            <p14:sldId id="268"/>
            <p14:sldId id="269"/>
            <p14:sldId id="274"/>
            <p14:sldId id="273"/>
            <p14:sldId id="275"/>
            <p14:sldId id="276"/>
            <p14:sldId id="277"/>
            <p14:sldId id="280"/>
            <p14:sldId id="279"/>
            <p14:sldId id="282"/>
            <p14:sldId id="287"/>
            <p14:sldId id="289"/>
            <p14:sldId id="290"/>
            <p14:sldId id="291"/>
            <p14:sldId id="293"/>
            <p14:sldId id="292"/>
            <p14:sldId id="29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284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24" autoAdjust="0"/>
    <p:restoredTop sz="92451" autoAdjust="0"/>
  </p:normalViewPr>
  <p:slideViewPr>
    <p:cSldViewPr snapToGrid="0">
      <p:cViewPr varScale="1">
        <p:scale>
          <a:sx n="71" d="100"/>
          <a:sy n="71" d="100"/>
        </p:scale>
        <p:origin x="6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1160EA64-D806-43AC-9DF2-F8C432F32B4C}" type="datetimeFigureOut">
              <a:rPr lang="en-US" smtClean="0"/>
              <a:t>10/5/2025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83343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smtClean="0"/>
              <a:t>10/5/2025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30389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1160EA64-D806-43AC-9DF2-F8C432F32B4C}" type="datetimeFigureOut">
              <a:rPr lang="en-US" smtClean="0"/>
              <a:t>10/5/2025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53" y="521106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1060"/>
            <a:ext cx="2112264" cy="228600"/>
          </a:xfrm>
        </p:spPr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7802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smtClean="0"/>
              <a:t>10/5/2025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3081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10/5/2025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894091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smtClean="0"/>
              <a:t>10/5/2025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2163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smtClean="0"/>
              <a:t>10/5/2025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3985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smtClean="0"/>
              <a:t>10/5/2025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3677" y="6223002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402018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smtClean="0"/>
              <a:t>10/5/2025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515083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smtClean="0"/>
              <a:t>10/5/2025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1439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smtClean="0"/>
              <a:t>10/5/2025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4442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smtClean="0"/>
              <a:t>10/5/2025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23220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1" r:id="rId1"/>
    <p:sldLayoutId id="2147483882" r:id="rId2"/>
    <p:sldLayoutId id="2147483883" r:id="rId3"/>
    <p:sldLayoutId id="2147483884" r:id="rId4"/>
    <p:sldLayoutId id="2147483885" r:id="rId5"/>
    <p:sldLayoutId id="2147483886" r:id="rId6"/>
    <p:sldLayoutId id="2147483887" r:id="rId7"/>
    <p:sldLayoutId id="2147483888" r:id="rId8"/>
    <p:sldLayoutId id="2147483889" r:id="rId9"/>
    <p:sldLayoutId id="2147483890" r:id="rId10"/>
    <p:sldLayoutId id="214748389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fif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fif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api.company.com/sales?month=September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4FC91-0A3C-FA07-42A8-4AE4164CC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4061024"/>
          </a:xfrm>
        </p:spPr>
        <p:txBody>
          <a:bodyPr>
            <a:normAutofit/>
          </a:bodyPr>
          <a:lstStyle/>
          <a:p>
            <a:r>
              <a:rPr lang="en-US" sz="5400"/>
              <a:t>        </a:t>
            </a:r>
            <a:br>
              <a:rPr lang="en-US" sz="5400"/>
            </a:br>
            <a:r>
              <a:rPr lang="en-US" sz="5400"/>
              <a:t>        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BUSINESS</a:t>
            </a:r>
            <a:r>
              <a:rPr lang="en-US"/>
              <a:t>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ANALYTICS</a:t>
            </a:r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</a:t>
            </a:r>
            <a:r>
              <a:rPr lang="en-US" sz="1800" b="1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PRESENTER:</a:t>
            </a:r>
            <a:r>
              <a:rPr lang="en-US" sz="1800" b="1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1800" b="1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DRISHA</a:t>
            </a:r>
            <a:r>
              <a:rPr lang="en-US" sz="1800" b="1">
                <a:solidFill>
                  <a:schemeClr val="bg2">
                    <a:lumMod val="50000"/>
                  </a:schemeClr>
                </a:solidFill>
              </a:rPr>
              <a:t>.J</a:t>
            </a:r>
            <a:endParaRPr lang="en-IN" sz="1800" b="1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85176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AE296-DBB9-AEAF-1AEC-CFACFC0F1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         BUISNESS ANALYTICS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2FEB2E-0C50-C1A2-6519-3758B1F9C5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b="1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Buisness Analytics?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Business Analytics is the practice of using data, statistical methods, and predictive models to analyze business performance, gain insights, and support data-driven decision making.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It combines business knowledge, data science, and technology to improve efficiency, identify opportunities, and predict future outcomes.</a:t>
            </a:r>
          </a:p>
          <a:p>
            <a:pPr marL="0" indent="0">
              <a:buNone/>
            </a:pPr>
            <a:r>
              <a:rPr lang="en-US" sz="2000" b="1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Components: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Descriptive Analytics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– Explains what happened (past trends, reports).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Diagnostic Analytics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– Explains why it happened (root cause analysis).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Predictive Analytics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– Forecasts what could happen (machine learning, forecasting).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Prescriptive Analytics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– Suggests what actions to take (optimization, decision support).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311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6C2FA-50A5-ABF3-6835-4FC1A62C8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         OVERVIEW OF TOPICS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DF48AC-EC6D-53A8-8185-E77B53F3FD6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Primary topics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Agile &amp; Scrum Fundamentals – Roles, ceremonies, artifacts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User Stories – Writing clear acceptance criteria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 UML Diagrams – Use case, activity, and sequence diagrams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92E93C-D024-21B5-BE92-F8E25D5157F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Secondary topics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REST APIs Basics – Understanding request-response flows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Cloud Overview – High-level AWS and Azure capabilities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 Machine Learning Basics – High-level understanding of AI use cases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Testing Tools – Using Postman for API validation </a:t>
            </a:r>
          </a:p>
        </p:txBody>
      </p:sp>
    </p:spTree>
    <p:extLst>
      <p:ext uri="{BB962C8B-B14F-4D97-AF65-F5344CB8AC3E}">
        <p14:creationId xmlns:p14="http://schemas.microsoft.com/office/powerpoint/2010/main" val="12011893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05C67-6722-7AD7-F1FB-7B434A4A4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0691" y="500565"/>
            <a:ext cx="10441709" cy="1188720"/>
          </a:xfrm>
        </p:spPr>
        <p:txBody>
          <a:bodyPr>
            <a:noAutofit/>
          </a:bodyPr>
          <a:lstStyle/>
          <a:p>
            <a:r>
              <a: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AGILE METHEDOLOGY</a:t>
            </a:r>
            <a:endParaRPr lang="en-IN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DB18E83-27A6-AF3B-EFC9-FD1FCFD2566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71600" y="1706528"/>
            <a:ext cx="10441709" cy="4062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Definition:</a:t>
            </a:r>
            <a:endParaRPr kumimoji="0" lang="en-US" altLang="en-US" sz="2000" b="0" i="0" u="none" strike="noStrike" cap="none" normalizeH="0" baseline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Agile is an iterative and incremental approach to software development.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kumimoji="0" lang="en-US" altLang="en-US" sz="200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Focuses on flexibility, collaboration, customer feedback, and rapid delivery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Why Agile?</a:t>
            </a:r>
            <a:endParaRPr kumimoji="0" lang="en-US" altLang="en-US" sz="2000" b="0" i="0" u="none" strike="noStrike" cap="none" normalizeH="0" baseline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Responds quickly to changing business needs.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Encourages customer involvement throughout the process.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Delivers small, working increments frequently.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Agile Values:</a:t>
            </a:r>
            <a:endParaRPr kumimoji="0" lang="en-US" altLang="en-US" sz="2000" b="0" i="0" u="none" strike="noStrike" cap="none" normalizeH="0" baseline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Individuals &amp; interactions –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Processes &amp; tools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Working software –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omprehensive documentation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Customer collaboration – Contract negotiation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Responding to change – Following a plan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B07960-F754-47AB-0DB1-0D6BDA712E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4366" y="3101442"/>
            <a:ext cx="4008934" cy="2403794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0938600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E3CA5-7795-E642-EE9B-9FEEED006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068441"/>
          </a:xfrm>
        </p:spPr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        SCRUM FUNDAMENTALS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D2C2A2-00A3-AF97-165C-D232D446AA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718015"/>
            <a:ext cx="10875818" cy="4828309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IN" sz="7200" b="1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Scrum: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6400">
                <a:latin typeface="Times New Roman" panose="02020603050405020304" pitchFamily="18" charset="0"/>
                <a:cs typeface="Times New Roman" panose="02020603050405020304" pitchFamily="18" charset="0"/>
              </a:rPr>
              <a:t>Scrum is an Agile framework for developing, delivering, and sustaining complex products.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6400">
                <a:latin typeface="Times New Roman" panose="02020603050405020304" pitchFamily="18" charset="0"/>
                <a:cs typeface="Times New Roman" panose="02020603050405020304" pitchFamily="18" charset="0"/>
              </a:rPr>
              <a:t>Focuses on collaboration, adaptability, and delivering value quickly.</a:t>
            </a:r>
          </a:p>
          <a:p>
            <a:pPr marL="0" indent="0">
              <a:buNone/>
            </a:pPr>
            <a:r>
              <a:rPr lang="en-US" sz="7200" b="1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Scrum Roles:</a:t>
            </a:r>
          </a:p>
          <a:p>
            <a:pPr marL="0" indent="0">
              <a:buNone/>
            </a:pPr>
            <a:r>
              <a:rPr lang="en-US" sz="6400" b="1">
                <a:latin typeface="Times New Roman" panose="02020603050405020304" pitchFamily="18" charset="0"/>
                <a:cs typeface="Times New Roman" panose="02020603050405020304" pitchFamily="18" charset="0"/>
              </a:rPr>
              <a:t>Product Owner (PO):</a:t>
            </a:r>
            <a:endParaRPr lang="en-US" sz="6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6400">
                <a:latin typeface="Times New Roman" panose="02020603050405020304" pitchFamily="18" charset="0"/>
                <a:cs typeface="Times New Roman" panose="02020603050405020304" pitchFamily="18" charset="0"/>
              </a:rPr>
              <a:t>Defines product vision.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6400">
                <a:latin typeface="Times New Roman" panose="02020603050405020304" pitchFamily="18" charset="0"/>
                <a:cs typeface="Times New Roman" panose="02020603050405020304" pitchFamily="18" charset="0"/>
              </a:rPr>
              <a:t>Manages the Product Backlog (list of features, requirements, tasks).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6400">
                <a:latin typeface="Times New Roman" panose="02020603050405020304" pitchFamily="18" charset="0"/>
                <a:cs typeface="Times New Roman" panose="02020603050405020304" pitchFamily="18" charset="0"/>
              </a:rPr>
              <a:t>Prioritizes work based on business value.</a:t>
            </a:r>
          </a:p>
          <a:p>
            <a:pPr marL="0" indent="0">
              <a:buNone/>
            </a:pPr>
            <a:r>
              <a:rPr lang="en-US" sz="6400" b="1">
                <a:latin typeface="Times New Roman" panose="02020603050405020304" pitchFamily="18" charset="0"/>
                <a:cs typeface="Times New Roman" panose="02020603050405020304" pitchFamily="18" charset="0"/>
              </a:rPr>
              <a:t>Scrum Master (SM):</a:t>
            </a:r>
            <a:endParaRPr lang="en-US" sz="6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6400">
                <a:latin typeface="Times New Roman" panose="02020603050405020304" pitchFamily="18" charset="0"/>
                <a:cs typeface="Times New Roman" panose="02020603050405020304" pitchFamily="18" charset="0"/>
              </a:rPr>
              <a:t>Servant leader and coach.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6400">
                <a:latin typeface="Times New Roman" panose="02020603050405020304" pitchFamily="18" charset="0"/>
                <a:cs typeface="Times New Roman" panose="02020603050405020304" pitchFamily="18" charset="0"/>
              </a:rPr>
              <a:t>Ensures the team follows Scrum principles.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6400">
                <a:latin typeface="Times New Roman" panose="02020603050405020304" pitchFamily="18" charset="0"/>
                <a:cs typeface="Times New Roman" panose="02020603050405020304" pitchFamily="18" charset="0"/>
              </a:rPr>
              <a:t>Removes impediments and protects the team from external interruptions.</a:t>
            </a:r>
          </a:p>
          <a:p>
            <a:pPr marL="0" indent="0">
              <a:buNone/>
            </a:pPr>
            <a:r>
              <a:rPr lang="en-US" sz="6400" b="1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Team:</a:t>
            </a:r>
            <a:endParaRPr lang="en-US" sz="6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6400">
                <a:latin typeface="Times New Roman" panose="02020603050405020304" pitchFamily="18" charset="0"/>
                <a:cs typeface="Times New Roman" panose="02020603050405020304" pitchFamily="18" charset="0"/>
              </a:rPr>
              <a:t>Cross-functional professionals.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6400">
                <a:latin typeface="Times New Roman" panose="02020603050405020304" pitchFamily="18" charset="0"/>
                <a:cs typeface="Times New Roman" panose="02020603050405020304" pitchFamily="18" charset="0"/>
              </a:rPr>
              <a:t>Self-organizing and responsible for delivering increments.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6400">
                <a:latin typeface="Times New Roman" panose="02020603050405020304" pitchFamily="18" charset="0"/>
                <a:cs typeface="Times New Roman" panose="02020603050405020304" pitchFamily="18" charset="0"/>
              </a:rPr>
              <a:t>Typically 5–9 members.</a:t>
            </a:r>
          </a:p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F4B8276-DD44-EC68-DA8D-189B83BE99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7818" y="2410691"/>
            <a:ext cx="3931615" cy="33779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4720902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4DA8B-6B6F-2DFA-75AD-EC422F804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V="1">
            <a:off x="1066801" y="-414866"/>
            <a:ext cx="7950200" cy="50799"/>
          </a:xfrm>
        </p:spPr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E256B4-6497-9ED9-2507-B772DE671F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86626" y="745067"/>
            <a:ext cx="4718583" cy="5711574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1600" b="1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</a:t>
            </a:r>
            <a:r>
              <a:rPr lang="en-US" b="1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rum Ceremonies (Events):</a:t>
            </a:r>
          </a:p>
          <a:p>
            <a:pPr marL="0" indent="0">
              <a:buNone/>
            </a:pPr>
            <a:r>
              <a:rPr 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1. Sprint</a:t>
            </a:r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Fixed time-box (1–4 weeks).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Goal: Deliver a working product increment.</a:t>
            </a:r>
          </a:p>
          <a:p>
            <a:pPr marL="0" indent="0">
              <a:buNone/>
            </a:pPr>
            <a:r>
              <a:rPr 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2. Sprint Planning</a:t>
            </a:r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Decide what to build in the sprint.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Define Sprint Goal &amp; plan tasks.</a:t>
            </a:r>
          </a:p>
          <a:p>
            <a:pPr marL="0" indent="0">
              <a:buNone/>
            </a:pPr>
            <a:r>
              <a:rPr 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3. Daily Scrum (Stand-up)</a:t>
            </a:r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15-min daily sync.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Share: Yesterday’s work, today’s plan, blockers.</a:t>
            </a:r>
          </a:p>
          <a:p>
            <a:pPr marL="0" indent="0">
              <a:buNone/>
            </a:pPr>
            <a:r>
              <a:rPr 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4. Sprint Review</a:t>
            </a:r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End-of-sprint demo to stakeholders.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Gather feedback &amp; update backlog.</a:t>
            </a:r>
          </a:p>
          <a:p>
            <a:pPr marL="0" indent="0">
              <a:buNone/>
            </a:pPr>
            <a:r>
              <a:rPr 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5. Sprint Retrospective</a:t>
            </a:r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Reflect on sprint process.</a:t>
            </a:r>
          </a:p>
          <a:p>
            <a:pPr marL="0" indent="0">
              <a:buNone/>
            </a:pP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Identify improvements for next sprint</a:t>
            </a:r>
            <a:endParaRPr lang="en-IN" sz="160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4CCC1C-B08B-D1C7-04CB-9B75537E01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80006" y="745067"/>
            <a:ext cx="4534938" cy="5174102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600" b="1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Scrum Artifacts:</a:t>
            </a:r>
          </a:p>
          <a:p>
            <a:pPr marL="0" indent="0">
              <a:buNone/>
            </a:pPr>
            <a:r>
              <a:rPr 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1.Product Backlog</a:t>
            </a:r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Ordered list of everything needed in the product.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Managed by the Product Owner.</a:t>
            </a:r>
          </a:p>
          <a:p>
            <a:pPr marL="0" indent="0">
              <a:buNone/>
            </a:pPr>
            <a:r>
              <a:rPr 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2.Sprint Backlog</a:t>
            </a:r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Subset of product backlog items selected for a sprint.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Includes a plan for delivering the increment.</a:t>
            </a:r>
          </a:p>
          <a:p>
            <a:pPr marL="0" indent="0">
              <a:buNone/>
            </a:pPr>
            <a:r>
              <a:rPr 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3.Increment</a:t>
            </a:r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 working product slice delivered at the end of each sprint.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Must be “Done” (meets Definition of Done).</a:t>
            </a:r>
          </a:p>
          <a:p>
            <a:endParaRPr lang="en-IN" sz="1600"/>
          </a:p>
          <a:p>
            <a:pPr>
              <a:buFont typeface="Wingdings" panose="05000000000000000000" pitchFamily="2" charset="2"/>
              <a:buChar char="§"/>
            </a:pPr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600"/>
          </a:p>
        </p:txBody>
      </p:sp>
    </p:spTree>
    <p:extLst>
      <p:ext uri="{BB962C8B-B14F-4D97-AF65-F5344CB8AC3E}">
        <p14:creationId xmlns:p14="http://schemas.microsoft.com/office/powerpoint/2010/main" val="35240502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C0DAE-1603-1FB6-4D0A-14EA95BF9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130788"/>
          </a:xfrm>
        </p:spPr>
        <p:txBody>
          <a:bodyPr/>
          <a:lstStyle/>
          <a:p>
            <a:r>
              <a:rPr lang="en-IN"/>
              <a:t>                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USER STORIES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AD8DD8-E90F-6906-74A2-068736FC2C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842655"/>
            <a:ext cx="5375564" cy="44265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are User Stories?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A user story is a short, simple description of a feature from the perspective of the end-user.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Format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: As a [role], I want [feature] so that [benefit].</a:t>
            </a:r>
          </a:p>
          <a:p>
            <a:pPr marL="0" indent="0">
              <a:buNone/>
            </a:pP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  Example: </a:t>
            </a:r>
            <a:r>
              <a:rPr lang="en-US" sz="1600" i="1">
                <a:latin typeface="Times New Roman" panose="02020603050405020304" pitchFamily="18" charset="0"/>
                <a:cs typeface="Times New Roman" panose="02020603050405020304" pitchFamily="18" charset="0"/>
              </a:rPr>
              <a:t>As a customer, I want to filter products by price so that I can find affordable options quickly.</a:t>
            </a:r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Importance of User Stories: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Focus on end-user needs.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Encourage collaboration between business analysts, developers, and sh.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Provides clarity for requirements and reduces ambiguity.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Forms the basis for estimating, planning, and testing in Agile/Scrum</a:t>
            </a:r>
          </a:p>
          <a:p>
            <a:pPr marL="0" indent="0">
              <a:buNone/>
            </a:pPr>
            <a:endParaRPr lang="en-US" sz="13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5DDAF44-E5E0-0403-A3F1-F184C3324A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372" y="2747613"/>
            <a:ext cx="4102828" cy="2461696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6510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62AD1-2792-7097-6E71-E486958F9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02674"/>
            <a:ext cx="10058400" cy="912020"/>
          </a:xfrm>
        </p:spPr>
        <p:txBody>
          <a:bodyPr>
            <a:normAutofit/>
          </a:bodyPr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          ACCEPTANCE CRITERIA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C3E718-C8E2-E8AC-1B99-C7FC100E92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66800" y="1577515"/>
            <a:ext cx="4754880" cy="4989539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US" sz="4300" b="1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Acceptance Criteria?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4300" b="1"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  <a:r>
              <a:rPr lang="en-US" sz="4300">
                <a:latin typeface="Times New Roman" panose="02020603050405020304" pitchFamily="18" charset="0"/>
                <a:cs typeface="Times New Roman" panose="02020603050405020304" pitchFamily="18" charset="0"/>
              </a:rPr>
              <a:t>: Acceptance Criteria are specific, predefined conditions that a software product or feature must meet to be accepted by stakeholders or end-users.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4300">
                <a:latin typeface="Times New Roman" panose="02020603050405020304" pitchFamily="18" charset="0"/>
                <a:cs typeface="Times New Roman" panose="02020603050405020304" pitchFamily="18" charset="0"/>
              </a:rPr>
              <a:t>They act as a contract between the development team and the stakeholders.</a:t>
            </a:r>
          </a:p>
          <a:p>
            <a:pPr marL="0" indent="0">
              <a:buNone/>
            </a:pPr>
            <a:r>
              <a:rPr lang="en-US" sz="4300" b="1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Acceptance Criteria is Important?</a:t>
            </a:r>
          </a:p>
          <a:p>
            <a:pPr marL="0" indent="0">
              <a:buNone/>
            </a:pPr>
            <a:r>
              <a:rPr lang="en-IN" sz="4300" b="1">
                <a:latin typeface="Times New Roman" panose="02020603050405020304" pitchFamily="18" charset="0"/>
                <a:cs typeface="Times New Roman" panose="02020603050405020304" pitchFamily="18" charset="0"/>
              </a:rPr>
              <a:t> 1.Clarity &amp; Alignment:</a:t>
            </a:r>
            <a:endParaRPr lang="en-US" sz="4300" b="1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4300">
                <a:latin typeface="Times New Roman" panose="02020603050405020304" pitchFamily="18" charset="0"/>
                <a:cs typeface="Times New Roman" panose="02020603050405020304" pitchFamily="18" charset="0"/>
              </a:rPr>
              <a:t>Prevents ambiguity between stakeholders, developers, and testers.</a:t>
            </a:r>
          </a:p>
          <a:p>
            <a:pPr marL="0" indent="0">
              <a:buNone/>
            </a:pPr>
            <a:r>
              <a:rPr lang="en-US" sz="4300" b="1">
                <a:latin typeface="Times New Roman" panose="02020603050405020304" pitchFamily="18" charset="0"/>
                <a:cs typeface="Times New Roman" panose="02020603050405020304" pitchFamily="18" charset="0"/>
              </a:rPr>
              <a:t> 2.Testability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4300">
                <a:latin typeface="Times New Roman" panose="02020603050405020304" pitchFamily="18" charset="0"/>
                <a:cs typeface="Times New Roman" panose="02020603050405020304" pitchFamily="18" charset="0"/>
              </a:rPr>
              <a:t>Serves as the basis for test cases and QA validation.</a:t>
            </a:r>
          </a:p>
          <a:p>
            <a:pPr marL="0" indent="0">
              <a:buNone/>
            </a:pPr>
            <a:r>
              <a:rPr lang="en-US" sz="4300" b="1">
                <a:latin typeface="Times New Roman" panose="02020603050405020304" pitchFamily="18" charset="0"/>
                <a:cs typeface="Times New Roman" panose="02020603050405020304" pitchFamily="18" charset="0"/>
              </a:rPr>
              <a:t> 3.User-Centric Development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4300">
                <a:latin typeface="Times New Roman" panose="02020603050405020304" pitchFamily="18" charset="0"/>
                <a:cs typeface="Times New Roman" panose="02020603050405020304" pitchFamily="18" charset="0"/>
              </a:rPr>
              <a:t>Ensures the product meets real user needs.</a:t>
            </a:r>
          </a:p>
          <a:p>
            <a:pPr marL="0" indent="0">
              <a:buNone/>
            </a:pPr>
            <a:r>
              <a:rPr lang="en-US" sz="4300" b="1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of Acceptance Criteria: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4300" b="1">
                <a:latin typeface="Times New Roman" panose="02020603050405020304" pitchFamily="18" charset="0"/>
                <a:cs typeface="Times New Roman" panose="02020603050405020304" pitchFamily="18" charset="0"/>
              </a:rPr>
              <a:t>Functional Criteria</a:t>
            </a:r>
            <a:r>
              <a:rPr lang="en-US" sz="4300">
                <a:latin typeface="Times New Roman" panose="02020603050405020304" pitchFamily="18" charset="0"/>
                <a:cs typeface="Times New Roman" panose="02020603050405020304" pitchFamily="18" charset="0"/>
              </a:rPr>
              <a:t> – Defines specific system behaviors.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4300" b="1">
                <a:latin typeface="Times New Roman" panose="02020603050405020304" pitchFamily="18" charset="0"/>
                <a:cs typeface="Times New Roman" panose="02020603050405020304" pitchFamily="18" charset="0"/>
              </a:rPr>
              <a:t>Non-Functional Criteria</a:t>
            </a:r>
            <a:r>
              <a:rPr lang="en-US" sz="4300">
                <a:latin typeface="Times New Roman" panose="02020603050405020304" pitchFamily="18" charset="0"/>
                <a:cs typeface="Times New Roman" panose="02020603050405020304" pitchFamily="18" charset="0"/>
              </a:rPr>
              <a:t> – Defines performance, security, or usability aspects.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4300" b="1">
                <a:latin typeface="Times New Roman" panose="02020603050405020304" pitchFamily="18" charset="0"/>
                <a:cs typeface="Times New Roman" panose="02020603050405020304" pitchFamily="18" charset="0"/>
              </a:rPr>
              <a:t>Boundary Conditions</a:t>
            </a:r>
            <a:r>
              <a:rPr lang="en-US" sz="4300">
                <a:latin typeface="Times New Roman" panose="02020603050405020304" pitchFamily="18" charset="0"/>
                <a:cs typeface="Times New Roman" panose="02020603050405020304" pitchFamily="18" charset="0"/>
              </a:rPr>
              <a:t> – Specifies limits and restrictions.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43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4300"/>
          </a:p>
          <a:p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1107B8-6A6C-7BF2-D66F-A189E11386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70320" y="1731817"/>
            <a:ext cx="4754880" cy="4835237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US" sz="4300" b="1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to Write Clear Acceptance Criteria?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4300" b="1">
                <a:latin typeface="Times New Roman" panose="02020603050405020304" pitchFamily="18" charset="0"/>
                <a:cs typeface="Times New Roman" panose="02020603050405020304" pitchFamily="18" charset="0"/>
              </a:rPr>
              <a:t>Be Specific: </a:t>
            </a:r>
            <a:r>
              <a:rPr lang="en-US" sz="4300">
                <a:latin typeface="Times New Roman" panose="02020603050405020304" pitchFamily="18" charset="0"/>
                <a:cs typeface="Times New Roman" panose="02020603050405020304" pitchFamily="18" charset="0"/>
              </a:rPr>
              <a:t>Avoid vague terms like </a:t>
            </a:r>
            <a:r>
              <a:rPr lang="en-US" sz="4300" i="1">
                <a:latin typeface="Times New Roman" panose="02020603050405020304" pitchFamily="18" charset="0"/>
                <a:cs typeface="Times New Roman" panose="02020603050405020304" pitchFamily="18" charset="0"/>
              </a:rPr>
              <a:t>“fast”</a:t>
            </a:r>
            <a:r>
              <a:rPr lang="en-US" sz="430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sz="4300" i="1">
                <a:latin typeface="Times New Roman" panose="02020603050405020304" pitchFamily="18" charset="0"/>
                <a:cs typeface="Times New Roman" panose="02020603050405020304" pitchFamily="18" charset="0"/>
              </a:rPr>
              <a:t>“easy”</a:t>
            </a:r>
            <a:r>
              <a:rPr lang="en-US" sz="43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4300" b="1">
                <a:latin typeface="Times New Roman" panose="02020603050405020304" pitchFamily="18" charset="0"/>
                <a:cs typeface="Times New Roman" panose="02020603050405020304" pitchFamily="18" charset="0"/>
              </a:rPr>
              <a:t>Use Simple Language: </a:t>
            </a:r>
            <a:r>
              <a:rPr lang="en-US" sz="4300">
                <a:latin typeface="Times New Roman" panose="02020603050405020304" pitchFamily="18" charset="0"/>
                <a:cs typeface="Times New Roman" panose="02020603050405020304" pitchFamily="18" charset="0"/>
              </a:rPr>
              <a:t>Make it clear for both business &amp; tech teams.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4300" b="1">
                <a:latin typeface="Times New Roman" panose="02020603050405020304" pitchFamily="18" charset="0"/>
                <a:cs typeface="Times New Roman" panose="02020603050405020304" pitchFamily="18" charset="0"/>
              </a:rPr>
              <a:t>Follow a Format</a:t>
            </a:r>
            <a:r>
              <a:rPr lang="en-US" sz="430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4300" b="1">
                <a:latin typeface="Times New Roman" panose="02020603050405020304" pitchFamily="18" charset="0"/>
                <a:cs typeface="Times New Roman" panose="02020603050405020304" pitchFamily="18" charset="0"/>
              </a:rPr>
              <a:t>Scenario/Rule-based</a:t>
            </a:r>
            <a:r>
              <a:rPr lang="en-US" sz="4300">
                <a:latin typeface="Times New Roman" panose="02020603050405020304" pitchFamily="18" charset="0"/>
                <a:cs typeface="Times New Roman" panose="02020603050405020304" pitchFamily="18" charset="0"/>
              </a:rPr>
              <a:t>  - If  X happens, then Y should occur.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4300" b="1">
                <a:latin typeface="Times New Roman" panose="02020603050405020304" pitchFamily="18" charset="0"/>
                <a:cs typeface="Times New Roman" panose="02020603050405020304" pitchFamily="18" charset="0"/>
              </a:rPr>
              <a:t>Given-When-Then (Gherkin)</a:t>
            </a:r>
            <a:r>
              <a:rPr lang="en-US" sz="4300">
                <a:latin typeface="Times New Roman" panose="02020603050405020304" pitchFamily="18" charset="0"/>
                <a:cs typeface="Times New Roman" panose="02020603050405020304" pitchFamily="18" charset="0"/>
              </a:rPr>
              <a:t> -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4300" b="1">
                <a:latin typeface="Times New Roman" panose="02020603050405020304" pitchFamily="18" charset="0"/>
                <a:cs typeface="Times New Roman" panose="02020603050405020304" pitchFamily="18" charset="0"/>
              </a:rPr>
              <a:t>Given</a:t>
            </a:r>
            <a:r>
              <a:rPr lang="en-US" sz="4300">
                <a:latin typeface="Times New Roman" panose="02020603050405020304" pitchFamily="18" charset="0"/>
                <a:cs typeface="Times New Roman" panose="02020603050405020304" pitchFamily="18" charset="0"/>
              </a:rPr>
              <a:t> a starting context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4300" b="1"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r>
              <a:rPr lang="en-US" sz="4300">
                <a:latin typeface="Times New Roman" panose="02020603050405020304" pitchFamily="18" charset="0"/>
                <a:cs typeface="Times New Roman" panose="02020603050405020304" pitchFamily="18" charset="0"/>
              </a:rPr>
              <a:t> an action is taken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4300" b="1">
                <a:latin typeface="Times New Roman" panose="02020603050405020304" pitchFamily="18" charset="0"/>
                <a:cs typeface="Times New Roman" panose="02020603050405020304" pitchFamily="18" charset="0"/>
              </a:rPr>
              <a:t>Then</a:t>
            </a:r>
            <a:r>
              <a:rPr lang="en-US" sz="4300">
                <a:latin typeface="Times New Roman" panose="02020603050405020304" pitchFamily="18" charset="0"/>
                <a:cs typeface="Times New Roman" panose="02020603050405020304" pitchFamily="18" charset="0"/>
              </a:rPr>
              <a:t> an expected outcome should occur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4300" b="1">
                <a:latin typeface="Times New Roman" panose="02020603050405020304" pitchFamily="18" charset="0"/>
                <a:cs typeface="Times New Roman" panose="02020603050405020304" pitchFamily="18" charset="0"/>
              </a:rPr>
              <a:t>Make it Testable</a:t>
            </a:r>
            <a:r>
              <a:rPr lang="en-US" sz="4300">
                <a:latin typeface="Times New Roman" panose="02020603050405020304" pitchFamily="18" charset="0"/>
                <a:cs typeface="Times New Roman" panose="02020603050405020304" pitchFamily="18" charset="0"/>
              </a:rPr>
              <a:t> - Each criterion should have a clear </a:t>
            </a:r>
            <a:r>
              <a:rPr lang="en-US" sz="4300" i="1">
                <a:latin typeface="Times New Roman" panose="02020603050405020304" pitchFamily="18" charset="0"/>
                <a:cs typeface="Times New Roman" panose="02020603050405020304" pitchFamily="18" charset="0"/>
              </a:rPr>
              <a:t>Pass/Fail</a:t>
            </a:r>
            <a:r>
              <a:rPr lang="en-US" sz="43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4300" b="1">
                <a:latin typeface="Times New Roman" panose="02020603050405020304" pitchFamily="18" charset="0"/>
                <a:cs typeface="Times New Roman" panose="02020603050405020304" pitchFamily="18" charset="0"/>
              </a:rPr>
              <a:t>Cover Edge Cases</a:t>
            </a:r>
            <a:r>
              <a:rPr lang="en-US" sz="4300">
                <a:latin typeface="Times New Roman" panose="02020603050405020304" pitchFamily="18" charset="0"/>
                <a:cs typeface="Times New Roman" panose="02020603050405020304" pitchFamily="18" charset="0"/>
              </a:rPr>
              <a:t> - Think of unusual situations or errors.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4300" b="1">
                <a:latin typeface="Times New Roman" panose="02020603050405020304" pitchFamily="18" charset="0"/>
                <a:cs typeface="Times New Roman" panose="02020603050405020304" pitchFamily="18" charset="0"/>
              </a:rPr>
              <a:t>Example (E-commerce App – Login):</a:t>
            </a:r>
            <a:endParaRPr lang="en-US" sz="43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4300">
                <a:latin typeface="Times New Roman" panose="02020603050405020304" pitchFamily="18" charset="0"/>
                <a:cs typeface="Times New Roman" panose="02020603050405020304" pitchFamily="18" charset="0"/>
              </a:rPr>
              <a:t>Given a registered user, when they enter valid credentials, then they should be logged in.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4300">
                <a:latin typeface="Times New Roman" panose="02020603050405020304" pitchFamily="18" charset="0"/>
                <a:cs typeface="Times New Roman" panose="02020603050405020304" pitchFamily="18" charset="0"/>
              </a:rPr>
              <a:t>Given wrong credentials</a:t>
            </a:r>
            <a:r>
              <a:rPr lang="en-US" sz="3700">
                <a:latin typeface="Times New Roman" panose="02020603050405020304" pitchFamily="18" charset="0"/>
                <a:cs typeface="Times New Roman" panose="02020603050405020304" pitchFamily="18" charset="0"/>
              </a:rPr>
              <a:t>, when they try to log in, then an error message should be shown.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05897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EB436-83C4-FB98-49CE-E02CDEFCA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UML DIAGRAMS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48ABAB-8AB7-56A4-6D42-8349BA40E2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UML and why use it?</a:t>
            </a:r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Unified Modeling Language (UML)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– visual language for modeling software systems.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Helps stakeholders (business, developers, testers, architects) </a:t>
            </a:r>
            <a:r>
              <a:rPr 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see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requirements and behavior.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Use different diagram types for different needs: scope (use case), process (activity), interaction timing (sequence).</a:t>
            </a:r>
          </a:p>
          <a:p>
            <a:pPr marL="0" indent="0">
              <a:buNone/>
            </a:pPr>
            <a:r>
              <a:rPr lang="en-US" b="1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UML is important in Business Analytics?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Converts business requirements into visual models.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Makes complex workflows easy to understand.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Ensures clear communication between business &amp; technical teams.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Reduces misunderstandings in requirements.</a:t>
            </a:r>
          </a:p>
          <a:p>
            <a:endParaRPr lang="en-IN" b="1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84410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1441F-25B7-845C-B271-320522AA6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         USE CASE DIAGRAM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482F6E-FB78-34D9-864F-FFBF11A6D7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66800" y="1938867"/>
            <a:ext cx="4754880" cy="427653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1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Use Case Diagram?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A high-level view of what the system should do from the end-user’s perspective.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Focuses on actors (users or external systems) and the use cases (functions/services) they interact with.</a:t>
            </a:r>
          </a:p>
          <a:p>
            <a:pPr marL="0" indent="0">
              <a:buNone/>
            </a:pPr>
            <a:r>
              <a:rPr lang="en-US" sz="1600" b="1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it is Important for a Buisness Analyst?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Defines functional requirements clearly.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Helps in requirement elicitation by showing who interacts with what.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Aligns business stakeholders and technical teams on system scope.</a:t>
            </a:r>
          </a:p>
          <a:p>
            <a:pPr marL="0" indent="0">
              <a:buNone/>
            </a:pPr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Example (E-commerce system):</a:t>
            </a:r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Actors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: Customer, Admin, Payment Gateway.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Use cases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: Browse Products, Add to Cart, Checkout, Make Payment, Track Order.</a:t>
            </a:r>
          </a:p>
          <a:p>
            <a:pPr marL="0" indent="0">
              <a:buNone/>
            </a:pPr>
            <a:endParaRPr lang="en-IN" sz="120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A563867-1C7E-5544-7509-1EA2E3571BD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370320" y="2304369"/>
            <a:ext cx="4589780" cy="365102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0946570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9E90E-1225-10DA-CF2E-483243BC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508000"/>
            <a:ext cx="10058400" cy="1303867"/>
          </a:xfrm>
        </p:spPr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ACTIVITY DIAGRAM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91E1A4-7A75-8BBC-0201-894D2E0952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66800" y="1930401"/>
            <a:ext cx="4754880" cy="413173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1900" b="1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Activity Diagram?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 workflow diagram showing step-by-step activities, decisions, and outcomes.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Visualizes business processes and their variations.</a:t>
            </a:r>
          </a:p>
          <a:p>
            <a:pPr marL="0" indent="0">
              <a:buNone/>
            </a:pPr>
            <a:r>
              <a:rPr lang="en-US" sz="1900" b="1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it is Important for a Buisness Analyst?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Clarifies business rules and flows.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Identifies bottlenecks, alternate paths, and dependencies.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Used to validate processes with non-technical stakeholders.</a:t>
            </a:r>
          </a:p>
          <a:p>
            <a:pPr marL="0" indent="0">
              <a:buNone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Example (Checkout process):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Customer browses –&gt; Adds item –&gt; Checkout –&gt; Enters shipping details.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Decision: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If payment succeeds –&gt; Create order –&gt; Send confirmation.</a:t>
            </a:r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If fails –&gt; Show error –&gt; Retry/Cancel.</a:t>
            </a:r>
          </a:p>
          <a:p>
            <a:pPr>
              <a:buFont typeface="Wingdings" panose="05000000000000000000" pitchFamily="2" charset="2"/>
              <a:buChar char="§"/>
            </a:pP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4781120-F1C1-2B55-1671-6BBEBC69204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724650" y="1930400"/>
            <a:ext cx="4046538" cy="404653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5820178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26917-E2AF-F5B1-E857-6ECEDC97D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         SEQUENCE DIAGRAM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490B1-C674-DB10-9D22-41ACC046207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1900" b="1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Sequence Diagram?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 time-ordered diagram that shows how different actors/systems interact with one another step by step.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Focuses on the order of communication between users, systems, and services.</a:t>
            </a:r>
          </a:p>
          <a:p>
            <a:pPr marL="0" indent="0">
              <a:buNone/>
            </a:pPr>
            <a:r>
              <a:rPr lang="en-US" sz="1900" b="1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it is Important for a Business Analyst?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Helps in understanding integration points.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Useful for API design discussions or when multiple systems are involved.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Shows what happens first, next, and last during a transaction.</a:t>
            </a:r>
          </a:p>
          <a:p>
            <a:pPr marL="0" indent="0">
              <a:buNone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Example (Place Order):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Customer –&gt;Web Portal –&gt; Order Service –&gt; Payment Gateway –&gt;Inventory –&gt; Shipping.</a:t>
            </a:r>
          </a:p>
          <a:p>
            <a:endParaRPr lang="en-IN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464EC8E-7725-89B5-F02D-F0DBD1170D1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732016" y="2103438"/>
            <a:ext cx="4031806" cy="3748087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1236131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2885A-7B36-53FE-CD0F-A9A9B208F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            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REST APIs BASICS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52D073-FC69-BE3D-3D74-01794FE6ED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752018"/>
            <a:ext cx="10638916" cy="468368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1900" b="1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</a:t>
            </a:r>
            <a:r>
              <a:rPr lang="en-IN" sz="1900" b="1">
                <a:solidFill>
                  <a:schemeClr val="bg2">
                    <a:lumMod val="50000"/>
                  </a:schemeClr>
                </a:solidFill>
              </a:rPr>
              <a:t>REST APIs?</a:t>
            </a:r>
            <a:endParaRPr lang="en-US" sz="1900" b="1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REST (Representational State Transfer) APIs allow communication between systems over HTTP.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It’s a standard way to send and receive data between a client (e.g., browser, mobile app) and server.</a:t>
            </a:r>
          </a:p>
          <a:p>
            <a:pPr marL="0" indent="0">
              <a:buNone/>
            </a:pPr>
            <a:r>
              <a:rPr lang="en-US" sz="1900" b="1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Concepts:</a:t>
            </a:r>
            <a:endParaRPr lang="en-US" sz="190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Request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: Client sends data or asks for information (GET, POST, PUT, DELETE).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Response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: Server sends back the requested data along with a status code(200 OK, 404 Not Found).</a:t>
            </a:r>
          </a:p>
          <a:p>
            <a:pPr marL="0" indent="0">
              <a:buNone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 Business Analytics dashboard needs sales data from an ERP system.</a:t>
            </a:r>
          </a:p>
          <a:p>
            <a:pPr marL="0" indent="0">
              <a:buNone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1.Request: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GET /sales-data?month=September</a:t>
            </a:r>
          </a:p>
          <a:p>
            <a:pPr marL="0" indent="0">
              <a:buNone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2.Response: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JSON containing sales figures for September.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Sql: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GET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https://api.company.com/sales?month=September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Json body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 "month": "September",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 "total_sales": 150000,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 "region": "North"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9E8B4A-C651-A98A-B6FF-66F47D4919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0909" y="3097442"/>
            <a:ext cx="4523140" cy="296874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40843340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1444A-8071-2E08-0C10-7C57078B0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976801"/>
          </a:xfrm>
        </p:spPr>
        <p:txBody>
          <a:bodyPr>
            <a:normAutofit/>
          </a:bodyPr>
          <a:lstStyle/>
          <a:p>
            <a:r>
              <a:rPr lang="en-IN"/>
              <a:t>       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Request–Response Flows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10AB9C-8DDF-CBBF-186A-9FE1DD1AE3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66800" y="1835779"/>
            <a:ext cx="5515484" cy="425789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>
                <a:solidFill>
                  <a:schemeClr val="bg2">
                    <a:lumMod val="50000"/>
                  </a:schemeClr>
                </a:solidFill>
              </a:rPr>
              <a:t>What is a Request–Response Flow?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It’s the communication process between a client and a server in a web or API system.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When you access a web page, use a dashboard, or connect to a data API — a request is sent, and a response is received.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This mechanism ensures data exchange between applications (for example, between a business analytics dashboard and a company’s database).</a:t>
            </a:r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It Matters for a Business Analyst?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Communicate better with developers and data teams.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Identify data sources for reports and dashboards.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Ensure data integrity, accuracy, and timeliness in analytics solutions.</a:t>
            </a:r>
          </a:p>
          <a:p>
            <a:pPr marL="0" indent="0">
              <a:buNone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 When your BI tool (like Power BI or Tableau) fetches customer sale        data from a company’s API, it uses a request–response flow.</a:t>
            </a:r>
          </a:p>
          <a:p>
            <a:endParaRPr lang="en-IN"/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2C886324-A0DC-03F2-F9CC-CE23D6B6F8C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522578374"/>
              </p:ext>
            </p:extLst>
          </p:nvPr>
        </p:nvGraphicFramePr>
        <p:xfrm>
          <a:off x="7810791" y="2114986"/>
          <a:ext cx="3677377" cy="3763717"/>
        </p:xfrm>
        <a:graphic>
          <a:graphicData uri="http://schemas.openxmlformats.org/drawingml/2006/table">
            <a:tbl>
              <a:tblPr>
                <a:tableStyleId>{0505E3EF-67EA-436B-97B2-0124C06EBD24}</a:tableStyleId>
              </a:tblPr>
              <a:tblGrid>
                <a:gridCol w="561394">
                  <a:extLst>
                    <a:ext uri="{9D8B030D-6E8A-4147-A177-3AD203B41FA5}">
                      <a16:colId xmlns:a16="http://schemas.microsoft.com/office/drawing/2014/main" val="632868687"/>
                    </a:ext>
                  </a:extLst>
                </a:gridCol>
                <a:gridCol w="1322230">
                  <a:extLst>
                    <a:ext uri="{9D8B030D-6E8A-4147-A177-3AD203B41FA5}">
                      <a16:colId xmlns:a16="http://schemas.microsoft.com/office/drawing/2014/main" val="401190078"/>
                    </a:ext>
                  </a:extLst>
                </a:gridCol>
                <a:gridCol w="1793753">
                  <a:extLst>
                    <a:ext uri="{9D8B030D-6E8A-4147-A177-3AD203B41FA5}">
                      <a16:colId xmlns:a16="http://schemas.microsoft.com/office/drawing/2014/main" val="4218122873"/>
                    </a:ext>
                  </a:extLst>
                </a:gridCol>
              </a:tblGrid>
              <a:tr h="2403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Step</a:t>
                      </a:r>
                    </a:p>
                  </a:txBody>
                  <a:tcPr marL="43223" marR="43223" marT="21612" marB="216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Action</a:t>
                      </a:r>
                    </a:p>
                  </a:txBody>
                  <a:tcPr marL="43223" marR="43223" marT="21612" marB="216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Description</a:t>
                      </a:r>
                    </a:p>
                  </a:txBody>
                  <a:tcPr marL="43223" marR="43223" marT="21612" marB="21612" anchor="ctr"/>
                </a:tc>
                <a:extLst>
                  <a:ext uri="{0D108BD9-81ED-4DB2-BD59-A6C34878D82A}">
                    <a16:rowId xmlns:a16="http://schemas.microsoft.com/office/drawing/2014/main" val="3074032782"/>
                  </a:ext>
                </a:extLst>
              </a:tr>
              <a:tr h="12279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1</a:t>
                      </a:r>
                    </a:p>
                  </a:txBody>
                  <a:tcPr marL="43223" marR="43223" marT="21612" marB="216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Client Sends Request</a:t>
                      </a:r>
                      <a:endParaRPr lang="en-IN" sz="1200"/>
                    </a:p>
                  </a:txBody>
                  <a:tcPr marL="43223" marR="43223" marT="21612" marB="216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The analytics dashboard sends a request to the server, e.g., GET /sales?month=September</a:t>
                      </a:r>
                    </a:p>
                  </a:txBody>
                  <a:tcPr marL="43223" marR="43223" marT="21612" marB="21612" anchor="ctr"/>
                </a:tc>
                <a:extLst>
                  <a:ext uri="{0D108BD9-81ED-4DB2-BD59-A6C34878D82A}">
                    <a16:rowId xmlns:a16="http://schemas.microsoft.com/office/drawing/2014/main" val="3158872464"/>
                  </a:ext>
                </a:extLst>
              </a:tr>
              <a:tr h="8236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2</a:t>
                      </a:r>
                    </a:p>
                  </a:txBody>
                  <a:tcPr marL="43223" marR="43223" marT="21612" marB="216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Server Processes Request</a:t>
                      </a:r>
                      <a:endParaRPr lang="en-IN" sz="1200"/>
                    </a:p>
                  </a:txBody>
                  <a:tcPr marL="43223" marR="43223" marT="21612" marB="216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The server checks the database for September sales data.</a:t>
                      </a:r>
                    </a:p>
                  </a:txBody>
                  <a:tcPr marL="43223" marR="43223" marT="21612" marB="21612" anchor="ctr"/>
                </a:tc>
                <a:extLst>
                  <a:ext uri="{0D108BD9-81ED-4DB2-BD59-A6C34878D82A}">
                    <a16:rowId xmlns:a16="http://schemas.microsoft.com/office/drawing/2014/main" val="484860665"/>
                  </a:ext>
                </a:extLst>
              </a:tr>
              <a:tr h="6292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3</a:t>
                      </a:r>
                    </a:p>
                  </a:txBody>
                  <a:tcPr marL="43223" marR="43223" marT="21612" marB="216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Server Sends Response</a:t>
                      </a:r>
                      <a:endParaRPr lang="en-IN" sz="1200"/>
                    </a:p>
                  </a:txBody>
                  <a:tcPr marL="43223" marR="43223" marT="21612" marB="216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The server replies with the requested data in JSON format.</a:t>
                      </a:r>
                    </a:p>
                  </a:txBody>
                  <a:tcPr marL="43223" marR="43223" marT="21612" marB="21612" anchor="ctr"/>
                </a:tc>
                <a:extLst>
                  <a:ext uri="{0D108BD9-81ED-4DB2-BD59-A6C34878D82A}">
                    <a16:rowId xmlns:a16="http://schemas.microsoft.com/office/drawing/2014/main" val="922073350"/>
                  </a:ext>
                </a:extLst>
              </a:tr>
              <a:tr h="8425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4</a:t>
                      </a:r>
                    </a:p>
                  </a:txBody>
                  <a:tcPr marL="43223" marR="43223" marT="21612" marB="216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Client Displays Data</a:t>
                      </a:r>
                      <a:endParaRPr lang="en-IN" sz="1200"/>
                    </a:p>
                  </a:txBody>
                  <a:tcPr marL="43223" marR="43223" marT="21612" marB="216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The dashboard visualizes the data as charts or tables.</a:t>
                      </a:r>
                    </a:p>
                  </a:txBody>
                  <a:tcPr marL="43223" marR="43223" marT="21612" marB="21612" anchor="ctr"/>
                </a:tc>
                <a:extLst>
                  <a:ext uri="{0D108BD9-81ED-4DB2-BD59-A6C34878D82A}">
                    <a16:rowId xmlns:a16="http://schemas.microsoft.com/office/drawing/2014/main" val="1223792633"/>
                  </a:ext>
                </a:extLst>
              </a:tr>
            </a:tbl>
          </a:graphicData>
        </a:graphic>
      </p:graphicFrame>
      <p:sp>
        <p:nvSpPr>
          <p:cNvPr id="11" name="Rectangle 2">
            <a:extLst>
              <a:ext uri="{FF2B5EF4-FFF2-40B4-BE49-F238E27FC236}">
                <a16:creationId xmlns:a16="http://schemas.microsoft.com/office/drawing/2014/main" id="{18FC788D-EC39-3D4A-1348-FE98518419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405" y="-1004942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7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 the Flow Works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Step-by-Step Example: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14884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BB6D7-D173-58DB-0FA1-4EB6E07B6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         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CLOUD OVERVIEW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49AE1E-299C-D646-5811-DEB55AB4AA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66800" y="1710137"/>
            <a:ext cx="4754880" cy="4418437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2900" b="1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Definition of Cloud?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 is the delivery of data storage, analytics, and software services over the internet (“the cloud”) instead of using local servers or personal computers.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500" b="1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br>
              <a:rPr 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Instead of storing all your sales data on a local computer, you upload it to AWS S3 or Azure Blob Storage, so your analytics dashboard (like Power BI or Tableau) can fetch it anytime, anywhere.</a:t>
            </a:r>
          </a:p>
          <a:p>
            <a:pPr marL="0" indent="0">
              <a:buNone/>
            </a:pPr>
            <a:r>
              <a:rPr lang="en-US" sz="2900" b="1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Importance of Cloud for Business Analytics: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For Business Analysts, the cloud provides: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500" b="1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Data Access</a:t>
            </a:r>
            <a:r>
              <a:rPr 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 – All business data is stored in one secure location.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500" b="1">
                <a:latin typeface="Times New Roman" panose="02020603050405020304" pitchFamily="18" charset="0"/>
                <a:cs typeface="Times New Roman" panose="02020603050405020304" pitchFamily="18" charset="0"/>
              </a:rPr>
              <a:t>Collaboration</a:t>
            </a:r>
            <a:r>
              <a:rPr 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 – Teams across locations can access real-time analytics.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500" b="1">
                <a:latin typeface="Times New Roman" panose="02020603050405020304" pitchFamily="18" charset="0"/>
                <a:cs typeface="Times New Roman" panose="02020603050405020304" pitchFamily="18" charset="0"/>
              </a:rPr>
              <a:t>Cost Efficiency</a:t>
            </a:r>
            <a:r>
              <a:rPr 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 – Pay only for the resources used, no server maintenance.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500" b="1">
                <a:latin typeface="Times New Roman" panose="02020603050405020304" pitchFamily="18" charset="0"/>
                <a:cs typeface="Times New Roman" panose="02020603050405020304" pitchFamily="18" charset="0"/>
              </a:rPr>
              <a:t>Faster Insights</a:t>
            </a:r>
            <a:r>
              <a:rPr 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 – Cloud analytics tools reduce time from data collection to visualization.</a:t>
            </a:r>
          </a:p>
          <a:p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29B96-6D25-910E-1E3D-9BC86EF1D3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70320" y="1856721"/>
            <a:ext cx="4754880" cy="399543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600" b="1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Business Analysts Use Cloud Platforms?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Use Case 1: Sales Analysis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1400">
                <a:latin typeface="Times New Roman" panose="02020603050405020304" pitchFamily="18" charset="0"/>
                <a:cs typeface="Times New Roman" panose="02020603050405020304" pitchFamily="18" charset="0"/>
              </a:rPr>
              <a:t>Store daily sales in S3.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1400">
                <a:latin typeface="Times New Roman" panose="02020603050405020304" pitchFamily="18" charset="0"/>
                <a:cs typeface="Times New Roman" panose="02020603050405020304" pitchFamily="18" charset="0"/>
              </a:rPr>
              <a:t>Transform and analyze data in Synapse.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1400">
                <a:latin typeface="Times New Roman" panose="02020603050405020304" pitchFamily="18" charset="0"/>
                <a:cs typeface="Times New Roman" panose="02020603050405020304" pitchFamily="18" charset="0"/>
              </a:rPr>
              <a:t>Visualize insights in Power BI.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1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Use Case 2: Customer Behavior Tracking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1400">
                <a:latin typeface="Times New Roman" panose="02020603050405020304" pitchFamily="18" charset="0"/>
                <a:cs typeface="Times New Roman" panose="02020603050405020304" pitchFamily="18" charset="0"/>
              </a:rPr>
              <a:t>Collect user activity streams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1400">
                <a:latin typeface="Times New Roman" panose="02020603050405020304" pitchFamily="18" charset="0"/>
                <a:cs typeface="Times New Roman" panose="02020603050405020304" pitchFamily="18" charset="0"/>
              </a:rPr>
              <a:t>Analyze real-time engagement trends.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Use Case 3: Forecasting &amp; Reporting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1400">
                <a:latin typeface="Times New Roman" panose="02020603050405020304" pitchFamily="18" charset="0"/>
                <a:cs typeface="Times New Roman" panose="02020603050405020304" pitchFamily="18" charset="0"/>
              </a:rPr>
              <a:t>Automate ETL pipelines.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1400">
                <a:latin typeface="Times New Roman" panose="02020603050405020304" pitchFamily="18" charset="0"/>
                <a:cs typeface="Times New Roman" panose="02020603050405020304" pitchFamily="18" charset="0"/>
              </a:rPr>
              <a:t>Refresh dashboards automatically.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1400">
                <a:latin typeface="Times New Roman" panose="02020603050405020304" pitchFamily="18" charset="0"/>
                <a:cs typeface="Times New Roman" panose="02020603050405020304" pitchFamily="18" charset="0"/>
              </a:rPr>
              <a:t>Share insights securely across departments.</a:t>
            </a:r>
          </a:p>
          <a:p>
            <a:endParaRPr lang="en-IN" sz="1400"/>
          </a:p>
        </p:txBody>
      </p:sp>
    </p:spTree>
    <p:extLst>
      <p:ext uri="{BB962C8B-B14F-4D97-AF65-F5344CB8AC3E}">
        <p14:creationId xmlns:p14="http://schemas.microsoft.com/office/powerpoint/2010/main" val="5231533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25DB7-4AFA-E6EF-AA48-CD21469C0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392" y="642595"/>
            <a:ext cx="11126364" cy="900020"/>
          </a:xfrm>
        </p:spPr>
        <p:txBody>
          <a:bodyPr>
            <a:normAutofit fontScale="90000"/>
          </a:bodyPr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HIGH-LEVEL AWS &amp; AZURE CAPABILITIES</a:t>
            </a:r>
            <a:endParaRPr lang="en-IN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E395D76-0357-88DF-326B-3885C01706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8027781"/>
              </p:ext>
            </p:extLst>
          </p:nvPr>
        </p:nvGraphicFramePr>
        <p:xfrm>
          <a:off x="851578" y="1542614"/>
          <a:ext cx="10526071" cy="4809326"/>
        </p:xfrm>
        <a:graphic>
          <a:graphicData uri="http://schemas.openxmlformats.org/drawingml/2006/table">
            <a:tbl>
              <a:tblPr>
                <a:tableStyleId>{0505E3EF-67EA-436B-97B2-0124C06EBD24}</a:tableStyleId>
              </a:tblPr>
              <a:tblGrid>
                <a:gridCol w="2638498">
                  <a:extLst>
                    <a:ext uri="{9D8B030D-6E8A-4147-A177-3AD203B41FA5}">
                      <a16:colId xmlns:a16="http://schemas.microsoft.com/office/drawing/2014/main" val="3079010667"/>
                    </a:ext>
                  </a:extLst>
                </a:gridCol>
                <a:gridCol w="2638498">
                  <a:extLst>
                    <a:ext uri="{9D8B030D-6E8A-4147-A177-3AD203B41FA5}">
                      <a16:colId xmlns:a16="http://schemas.microsoft.com/office/drawing/2014/main" val="2992076475"/>
                    </a:ext>
                  </a:extLst>
                </a:gridCol>
                <a:gridCol w="2638498">
                  <a:extLst>
                    <a:ext uri="{9D8B030D-6E8A-4147-A177-3AD203B41FA5}">
                      <a16:colId xmlns:a16="http://schemas.microsoft.com/office/drawing/2014/main" val="224403748"/>
                    </a:ext>
                  </a:extLst>
                </a:gridCol>
                <a:gridCol w="2610577">
                  <a:extLst>
                    <a:ext uri="{9D8B030D-6E8A-4147-A177-3AD203B41FA5}">
                      <a16:colId xmlns:a16="http://schemas.microsoft.com/office/drawing/2014/main" val="1953951387"/>
                    </a:ext>
                  </a:extLst>
                </a:gridCol>
              </a:tblGrid>
              <a:tr h="2255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Capability</a:t>
                      </a:r>
                      <a:endParaRPr lang="en-IN" sz="1050">
                        <a:solidFill>
                          <a:schemeClr val="bg2">
                            <a:lumMod val="5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498" marR="27498" marT="13749" marB="137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AWS Definition</a:t>
                      </a:r>
                      <a:endParaRPr lang="en-IN" sz="1050">
                        <a:solidFill>
                          <a:schemeClr val="bg2">
                            <a:lumMod val="5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498" marR="27498" marT="13749" marB="137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Azure Definition</a:t>
                      </a:r>
                      <a:endParaRPr lang="en-IN" sz="1050">
                        <a:solidFill>
                          <a:schemeClr val="bg2">
                            <a:lumMod val="5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498" marR="27498" marT="13749" marB="137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BA Relevance</a:t>
                      </a:r>
                      <a:endParaRPr lang="en-IN" sz="1050">
                        <a:solidFill>
                          <a:schemeClr val="bg2">
                            <a:lumMod val="5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498" marR="27498" marT="13749" marB="13749" anchor="ctr"/>
                </a:tc>
                <a:extLst>
                  <a:ext uri="{0D108BD9-81ED-4DB2-BD59-A6C34878D82A}">
                    <a16:rowId xmlns:a16="http://schemas.microsoft.com/office/drawing/2014/main" val="1055774604"/>
                  </a:ext>
                </a:extLst>
              </a:tr>
              <a:tr h="8361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/>
                        <a:t>Data Storage</a:t>
                      </a:r>
                      <a:endParaRPr lang="en-IN" sz="10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498" marR="27498" marT="13749" marB="137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/>
                        <a:t>Amazon S3:</a:t>
                      </a:r>
                      <a:r>
                        <a:rPr lang="en-US" sz="1050"/>
                        <a:t> Cloud storage for raw and processed data files (CSV, JSON, Parquet), centralized, durable, and scalable.</a:t>
                      </a:r>
                      <a:endParaRPr lang="en-US" sz="10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498" marR="27498" marT="13749" marB="137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/>
                        <a:t>Azure Data Lake / Blob Storage:</a:t>
                      </a:r>
                      <a:r>
                        <a:rPr lang="en-US" sz="1050"/>
                        <a:t> Centralized storage for structured and unstructured data.</a:t>
                      </a:r>
                      <a:endParaRPr lang="en-US" sz="10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498" marR="27498" marT="13749" marB="137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Serves as a single source of truth; supports historical analysis and auditing.</a:t>
                      </a:r>
                      <a:endParaRPr lang="en-US" sz="10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498" marR="27498" marT="13749" marB="13749" anchor="ctr"/>
                </a:tc>
                <a:extLst>
                  <a:ext uri="{0D108BD9-81ED-4DB2-BD59-A6C34878D82A}">
                    <a16:rowId xmlns:a16="http://schemas.microsoft.com/office/drawing/2014/main" val="1195095979"/>
                  </a:ext>
                </a:extLst>
              </a:tr>
              <a:tr h="6744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/>
                        <a:t>Data Warehouse</a:t>
                      </a:r>
                      <a:endParaRPr lang="en-IN" sz="10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498" marR="27498" marT="13749" marB="137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/>
                        <a:t>Amazon Redshift:</a:t>
                      </a:r>
                      <a:r>
                        <a:rPr lang="en-IN" sz="1050"/>
                        <a:t> Cloud data warehouse optimized for fast SQL analytics on large datasets.</a:t>
                      </a:r>
                      <a:endParaRPr lang="en-IN" sz="10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498" marR="27498" marT="13749" marB="137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/>
                        <a:t>Azure Synapse Analytics:</a:t>
                      </a:r>
                      <a:r>
                        <a:rPr lang="en-US" sz="1050"/>
                        <a:t> Unified analytics service combining data warehousing &amp; big data processing.</a:t>
                      </a:r>
                      <a:endParaRPr lang="en-US" sz="10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498" marR="27498" marT="13749" marB="137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Powers dashboards and reports with aggregated, ready-to-use data.</a:t>
                      </a:r>
                      <a:endParaRPr lang="en-US" sz="10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498" marR="27498" marT="13749" marB="13749" anchor="ctr"/>
                </a:tc>
                <a:extLst>
                  <a:ext uri="{0D108BD9-81ED-4DB2-BD59-A6C34878D82A}">
                    <a16:rowId xmlns:a16="http://schemas.microsoft.com/office/drawing/2014/main" val="2693644153"/>
                  </a:ext>
                </a:extLst>
              </a:tr>
              <a:tr h="8361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/>
                        <a:t> Data Integration</a:t>
                      </a:r>
                      <a:endParaRPr lang="en-IN" sz="10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498" marR="27498" marT="13749" marB="137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/>
                        <a:t>AWS Glue:</a:t>
                      </a:r>
                      <a:r>
                        <a:rPr lang="en-US" sz="1050"/>
                        <a:t> Fully managed ETL service; extracts, transforms, loads data; auto-discovers schema and maintains a catalog.</a:t>
                      </a:r>
                      <a:endParaRPr lang="en-US" sz="10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498" marR="27498" marT="13749" marB="137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/>
                        <a:t>Azure Data Factory:</a:t>
                      </a:r>
                      <a:r>
                        <a:rPr lang="en-US" sz="1050"/>
                        <a:t> Cloud ETL and workflow orchestration tool for data movement and transformation.</a:t>
                      </a:r>
                      <a:endParaRPr lang="en-US" sz="10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498" marR="27498" marT="13749" marB="137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Ensures data is clean, standardized, and ready for analysis.</a:t>
                      </a:r>
                      <a:endParaRPr lang="en-US" sz="10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498" marR="27498" marT="13749" marB="13749" anchor="ctr"/>
                </a:tc>
                <a:extLst>
                  <a:ext uri="{0D108BD9-81ED-4DB2-BD59-A6C34878D82A}">
                    <a16:rowId xmlns:a16="http://schemas.microsoft.com/office/drawing/2014/main" val="2894931392"/>
                  </a:ext>
                </a:extLst>
              </a:tr>
              <a:tr h="6744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/>
                        <a:t> Real-time Data</a:t>
                      </a:r>
                      <a:endParaRPr lang="en-IN" sz="10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498" marR="27498" marT="13749" marB="137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/>
                        <a:t>Amazon Kinesis:</a:t>
                      </a:r>
                      <a:r>
                        <a:rPr lang="en-US" sz="1050"/>
                        <a:t> Platform to ingest and process real-time data streams (clicks, transactions, sensor events).</a:t>
                      </a:r>
                      <a:endParaRPr lang="en-US" sz="10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498" marR="27498" marT="13749" marB="137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/>
                        <a:t>Azure Event Hubs + Stream Analytics:</a:t>
                      </a:r>
                      <a:r>
                        <a:rPr lang="en-US" sz="1050"/>
                        <a:t> Real-time ingestion and processing of event streams.</a:t>
                      </a:r>
                      <a:endParaRPr lang="en-US" sz="10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498" marR="27498" marT="13749" marB="137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Enables live dashboards and operational monitoring in near real-time.</a:t>
                      </a:r>
                      <a:endParaRPr lang="en-US" sz="10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498" marR="27498" marT="13749" marB="13749" anchor="ctr"/>
                </a:tc>
                <a:extLst>
                  <a:ext uri="{0D108BD9-81ED-4DB2-BD59-A6C34878D82A}">
                    <a16:rowId xmlns:a16="http://schemas.microsoft.com/office/drawing/2014/main" val="742414428"/>
                  </a:ext>
                </a:extLst>
              </a:tr>
              <a:tr h="6744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/>
                        <a:t>Machine Learning </a:t>
                      </a:r>
                      <a:endParaRPr lang="en-IN" sz="10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498" marR="27498" marT="13749" marB="137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/>
                        <a:t>Amazon SageMaker:</a:t>
                      </a:r>
                      <a:r>
                        <a:rPr lang="en-US" sz="1050"/>
                        <a:t> Cloud platform to build, train, deploy, and manage ML models with prediction endpoints.</a:t>
                      </a:r>
                      <a:endParaRPr lang="en-US" sz="10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498" marR="27498" marT="13749" marB="137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/>
                        <a:t>Azure Machine Learning:</a:t>
                      </a:r>
                      <a:r>
                        <a:rPr lang="en-US" sz="1050"/>
                        <a:t> Platform to build, train, deploy, and manage ML models.</a:t>
                      </a:r>
                      <a:endParaRPr lang="en-US" sz="10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498" marR="27498" marT="13749" marB="137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Supports forecasting, scoring, and predictive analytics in reports/dashboards.</a:t>
                      </a:r>
                      <a:endParaRPr lang="en-US" sz="10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498" marR="27498" marT="13749" marB="13749" anchor="ctr"/>
                </a:tc>
                <a:extLst>
                  <a:ext uri="{0D108BD9-81ED-4DB2-BD59-A6C34878D82A}">
                    <a16:rowId xmlns:a16="http://schemas.microsoft.com/office/drawing/2014/main" val="820939130"/>
                  </a:ext>
                </a:extLst>
              </a:tr>
              <a:tr h="6744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/>
                        <a:t> Visualization</a:t>
                      </a:r>
                      <a:endParaRPr lang="en-IN" sz="10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498" marR="27498" marT="13749" marB="137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/>
                        <a:t>Amazon QuickSight:</a:t>
                      </a:r>
                      <a:r>
                        <a:rPr lang="en-US" sz="1050"/>
                        <a:t> Cloud-based BI tool to create interactive dashboards, reports, and Q&amp;A.</a:t>
                      </a:r>
                      <a:endParaRPr lang="en-US" sz="10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498" marR="27498" marT="13749" marB="137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/>
                        <a:t>Power BI:</a:t>
                      </a:r>
                      <a:r>
                        <a:rPr lang="en-US" sz="1050"/>
                        <a:t> Interactive cloud BI platform for dashboards, reporting, and analytics.</a:t>
                      </a:r>
                      <a:endParaRPr lang="en-US" sz="10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498" marR="27498" marT="13749" marB="137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Enables visualization, exploration, and quick insights from curated data.</a:t>
                      </a:r>
                      <a:endParaRPr lang="en-US" sz="10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498" marR="27498" marT="13749" marB="13749" anchor="ctr"/>
                </a:tc>
                <a:extLst>
                  <a:ext uri="{0D108BD9-81ED-4DB2-BD59-A6C34878D82A}">
                    <a16:rowId xmlns:a16="http://schemas.microsoft.com/office/drawing/2014/main" val="4119544643"/>
                  </a:ext>
                </a:extLst>
              </a:tr>
              <a:tr h="21362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498" marR="27498" marT="13749" marB="137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0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498" marR="27498" marT="13749" marB="137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0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498" marR="27498" marT="13749" marB="137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.</a:t>
                      </a:r>
                      <a:endParaRPr lang="en-US" sz="10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498" marR="27498" marT="13749" marB="13749" anchor="ctr"/>
                </a:tc>
                <a:extLst>
                  <a:ext uri="{0D108BD9-81ED-4DB2-BD59-A6C34878D82A}">
                    <a16:rowId xmlns:a16="http://schemas.microsoft.com/office/drawing/2014/main" val="33763958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7759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D37D6-6206-8C40-B48D-134AF4F3E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330200"/>
            <a:ext cx="10058400" cy="1016969"/>
          </a:xfrm>
        </p:spPr>
        <p:txBody>
          <a:bodyPr>
            <a:normAutofit fontScale="90000"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MACHINE LEARNING BASICS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4CCB79-F5F0-1BB1-7720-02FE0B5087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56281" y="1284348"/>
            <a:ext cx="4865399" cy="515833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Machine Learning (ML)?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is a subset of Artificial Intelligence (AI) that allows systems to learn patterns from data and make decisions or predictions without being explicitly programmed.</a:t>
            </a:r>
          </a:p>
          <a:p>
            <a:pPr marL="0" indent="0">
              <a:buNone/>
            </a:pPr>
            <a:r>
              <a:rPr lang="en-US" sz="1400" b="1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Should a Business Analyst Understand ML?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You act as a bridge between business stakeholders and data science teams.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You need to translate business problems into data problems and vice versa.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You help identify AI/ML use cases that align with strategic goals.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You may contribute to defining model requirements, KPIs, and success criteria.</a:t>
            </a:r>
          </a:p>
          <a:p>
            <a:pPr marL="0" indent="0">
              <a:buNone/>
            </a:pPr>
            <a:r>
              <a:rPr lang="en-US" sz="1200" b="1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ML Concepts: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: Used to train and test ML models (input and output data).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: Attributes or characteristics (e.g., age, spending habits).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Labels</a:t>
            </a:r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: The output or target variable (e.g., churned customer = Yes/No).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: The mathematical method for building a model (e.g., Linear Regression, Decision Trees).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Training and Testing</a:t>
            </a:r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: Models are trained on data and then tested for accuracy.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IN"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7A90FA-7E35-D248-7CCF-82CB80198A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70320" y="1351467"/>
            <a:ext cx="4754880" cy="502409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of Machine Learning</a:t>
            </a:r>
            <a:r>
              <a:rPr lang="en-US" sz="1100" b="1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r>
              <a:rPr lang="en-US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1.Supervised Learning</a:t>
            </a:r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: Uses labeled data to train the model (e.g., predicting customer churn).</a:t>
            </a:r>
          </a:p>
          <a:p>
            <a:pPr marL="0" indent="0">
              <a:buNone/>
            </a:pPr>
            <a:r>
              <a:rPr lang="en-US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2.Unsupervised Learning</a:t>
            </a:r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: Finds hidden patterns in unlabeled data (e.g., customer segmentation).</a:t>
            </a:r>
          </a:p>
          <a:p>
            <a:pPr marL="0" indent="0">
              <a:buNone/>
            </a:pPr>
            <a:r>
              <a:rPr lang="en-US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3.Reinforcement Learning</a:t>
            </a:r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: Learns from trial and error based on feedback (e.g., dynamic pricing).</a:t>
            </a:r>
          </a:p>
          <a:p>
            <a:pPr marL="0" indent="0">
              <a:buNone/>
            </a:pPr>
            <a:r>
              <a:rPr lang="en-US" sz="1400" b="1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Steps in the ML Process:</a:t>
            </a:r>
          </a:p>
          <a:p>
            <a:pPr marL="0" indent="0">
              <a:buNone/>
            </a:pPr>
            <a:r>
              <a:rPr lang="en-US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1.Data Collection</a:t>
            </a:r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: Gather relevant data.</a:t>
            </a:r>
          </a:p>
          <a:p>
            <a:pPr marL="0" indent="0">
              <a:buNone/>
            </a:pPr>
            <a:r>
              <a:rPr lang="en-US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2.Data Preprocessing</a:t>
            </a:r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: Clean and format the data.</a:t>
            </a:r>
          </a:p>
          <a:p>
            <a:pPr marL="0" indent="0">
              <a:buNone/>
            </a:pPr>
            <a:r>
              <a:rPr lang="en-US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3.Model Training</a:t>
            </a:r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: Use an algorithm to learn from data.</a:t>
            </a:r>
          </a:p>
          <a:p>
            <a:pPr marL="0" indent="0">
              <a:buNone/>
            </a:pPr>
            <a:r>
              <a:rPr lang="en-US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4.Model Evaluation</a:t>
            </a:r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: Test the model’s accuracy.</a:t>
            </a:r>
          </a:p>
          <a:p>
            <a:pPr marL="0" indent="0">
              <a:buNone/>
            </a:pPr>
            <a:r>
              <a:rPr lang="en-US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5.Model Deployment</a:t>
            </a:r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: Implement the model in production.</a:t>
            </a:r>
          </a:p>
          <a:p>
            <a:pPr marL="0" indent="0">
              <a:buNone/>
            </a:pPr>
            <a:r>
              <a:rPr lang="en-US" sz="1400" b="1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BA's Role in ML Projects</a:t>
            </a:r>
            <a:r>
              <a:rPr lang="en-US" sz="1100" b="1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business needs and define success metrics.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Collaborate with data scientists to ensure models align with business goals.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Validate and interpret ML outputs to make data-driven decisions.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IN" sz="1100"/>
          </a:p>
        </p:txBody>
      </p:sp>
    </p:spTree>
    <p:extLst>
      <p:ext uri="{BB962C8B-B14F-4D97-AF65-F5344CB8AC3E}">
        <p14:creationId xmlns:p14="http://schemas.microsoft.com/office/powerpoint/2010/main" val="7507223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77BA2-0074-F7CD-62D6-4E1084B97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509552"/>
            <a:ext cx="10058400" cy="956280"/>
          </a:xfrm>
        </p:spPr>
        <p:txBody>
          <a:bodyPr>
            <a:normAutofit fontScale="90000"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 High-Level Understanding of AI Use Cases 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8A86B3-1215-3B9C-C2F5-BF0A86666A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53855" y="1396031"/>
            <a:ext cx="5228135" cy="512343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Customer Segmentation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 Group customers based on behavior or demographics to target them effectively.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 Retail stores segment customers into "budget shoppers" or "high-value customers" and send tailored promotions.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BA Role:</a:t>
            </a:r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 Define segment criteria, validate clusters, and track marketing effectiveness.</a:t>
            </a:r>
          </a:p>
          <a:p>
            <a:pPr marL="0" indent="0">
              <a:buNone/>
            </a:pPr>
            <a:r>
              <a:rPr lang="en-US" sz="1400" b="1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2.Churn Prediction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 Identify customers likely to leave and intervene before they do.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 A telecom company predicts which customers might cancel their service and offers retention plans.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BA Role:</a:t>
            </a:r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 Define churn, collaborate with data teams, and implement retention strategies.</a:t>
            </a:r>
          </a:p>
          <a:p>
            <a:pPr marL="0" indent="0">
              <a:buNone/>
            </a:pPr>
            <a:r>
              <a:rPr lang="en-US" sz="1400" b="1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3.Sales Forecasting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 Predict future sales based on past data to optimize inventory and budgeting.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 A retailer forecasts sales for winter wear and adjusts inventory accordingly.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BA Role:</a:t>
            </a:r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 Define business drivers, validate forecast accuracy, and communicate results to stakeholders.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IN"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E5238C-B36C-DF01-3418-0333286C0D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70319" y="1465833"/>
            <a:ext cx="5328417" cy="505363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4.Recommendation Systems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 Suggest products/services based on user behavior to increase engagement and sales.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 Amazon suggests products based on past purchases or browsing history.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BA Role:</a:t>
            </a:r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 Guide recommendation logic, monitor performance, and ensure alignment with business goals.</a:t>
            </a:r>
          </a:p>
          <a:p>
            <a:pPr marL="0" indent="0">
              <a:buNone/>
            </a:pPr>
            <a:r>
              <a:rPr lang="en-IN" sz="1400" b="1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5.Fraud Detection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lang="en-IN" sz="1200">
                <a:latin typeface="Times New Roman" panose="02020603050405020304" pitchFamily="18" charset="0"/>
                <a:cs typeface="Times New Roman" panose="02020603050405020304" pitchFamily="18" charset="0"/>
              </a:rPr>
              <a:t> Detect unusual or fraudulent activity in transactions to minimize risk.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IN" sz="1200">
                <a:latin typeface="Times New Roman" panose="02020603050405020304" pitchFamily="18" charset="0"/>
                <a:cs typeface="Times New Roman" panose="02020603050405020304" pitchFamily="18" charset="0"/>
              </a:rPr>
              <a:t> Banks flag suspicious transactions like large purchases in unusual locations.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BA Role:</a:t>
            </a:r>
            <a:r>
              <a:rPr lang="en-IN" sz="1200">
                <a:latin typeface="Times New Roman" panose="02020603050405020304" pitchFamily="18" charset="0"/>
                <a:cs typeface="Times New Roman" panose="02020603050405020304" pitchFamily="18" charset="0"/>
              </a:rPr>
              <a:t> Define fraud patterns, ensure business logic is followed, and track model performance.</a:t>
            </a:r>
          </a:p>
          <a:p>
            <a:pPr marL="0" indent="0">
              <a:buNone/>
            </a:pPr>
            <a:r>
              <a:rPr lang="en-US" sz="1400" b="1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6.Price Optimization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 Dynamically adjust prices based on demand, competition, and user behavior.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 Airlines increase prices during high demand and adjust based on competitor pricing.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BA Role:</a:t>
            </a:r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 Set pricing goals, monitor AI decisions, and evaluate sales impact.</a:t>
            </a:r>
          </a:p>
          <a:p>
            <a:pPr>
              <a:buFont typeface="Wingdings" panose="05000000000000000000" pitchFamily="2" charset="2"/>
              <a:buChar char="§"/>
            </a:pPr>
            <a:endParaRPr lang="en-IN"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00318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C232F-258C-CB21-6648-ED48B76DD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802298"/>
          </a:xfrm>
        </p:spPr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TESTING TOOLS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FC6884-8363-23AD-2B81-8621A3732C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3115" y="1542615"/>
            <a:ext cx="11203145" cy="459294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1900" b="1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Testing?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Testing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is the process of checking if a software system works correctly, meets business requirements, and performs well. As you ensure that the system aligns with business goals, provides a great user experience, and works as expected in real-world conditions.</a:t>
            </a:r>
          </a:p>
          <a:p>
            <a:pPr marL="0" indent="0">
              <a:buNone/>
            </a:pPr>
            <a:r>
              <a:rPr lang="en-US" sz="1900" b="1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of Testing :</a:t>
            </a:r>
          </a:p>
          <a:p>
            <a:pPr marL="0" indent="0">
              <a:buNone/>
            </a:pPr>
            <a:r>
              <a:rPr 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1.Functional Testing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: Ensures the software functions as required by business needs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Example- 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checkout process works on an e-commerce site</a:t>
            </a:r>
          </a:p>
          <a:p>
            <a:pPr marL="0" indent="0">
              <a:buNone/>
            </a:pPr>
            <a:r>
              <a:rPr 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2.Non-Functional Testing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: Verifies non-functional aspects like performance, security, and usability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Example- 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system can handle heavy user traffic</a:t>
            </a:r>
          </a:p>
          <a:p>
            <a:pPr marL="0" indent="0">
              <a:buNone/>
            </a:pPr>
            <a:r>
              <a:rPr 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3.Regression Testing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: Ensures new changes don’t break existing functionality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Example- 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confirming the order system still works after an update</a:t>
            </a:r>
          </a:p>
          <a:p>
            <a:pPr marL="0" indent="0">
              <a:buNone/>
            </a:pPr>
            <a:r>
              <a:rPr 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4.User Acceptance Testing (UAT)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: Involves business users to validate if the system meets their needs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Example- 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users test a new payroll system</a:t>
            </a:r>
          </a:p>
          <a:p>
            <a:pPr marL="0" indent="0">
              <a:buNone/>
            </a:pPr>
            <a:r>
              <a:rPr 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5.Integration Testing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: Confirms different parts of the system or external systems work together smoothly.</a:t>
            </a:r>
          </a:p>
          <a:p>
            <a:pPr marL="0" indent="0">
              <a:buNone/>
            </a:pP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payment gateway integration</a:t>
            </a:r>
          </a:p>
          <a:p>
            <a:pPr marL="0" indent="0">
              <a:buNone/>
            </a:pPr>
            <a:r>
              <a:rPr 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6.Acceptance Testing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: Verifies the software is ready for deployment and meets business criteria.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Example- 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If all the works runs as expected</a:t>
            </a:r>
          </a:p>
          <a:p>
            <a:pPr>
              <a:buFont typeface="Wingdings" panose="05000000000000000000" pitchFamily="2" charset="2"/>
              <a:buChar char="§"/>
            </a:pP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400715-AA83-EC8B-86E2-B7D65373B6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5138" y="2727512"/>
            <a:ext cx="2540777" cy="295433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4083486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ACEC9-BF34-2091-0735-75FB55B90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V="1">
            <a:off x="1066800" y="-1284348"/>
            <a:ext cx="10058400" cy="467670"/>
          </a:xfrm>
        </p:spPr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7B1671-C83F-AB46-BA7A-EA19A9ECD2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0638" y="725935"/>
            <a:ext cx="5265362" cy="544452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1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Popular Testing Tools :</a:t>
            </a:r>
          </a:p>
          <a:p>
            <a:pPr marL="0" indent="0">
              <a:buNone/>
            </a:pPr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1.Postman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: Used for API testing. Helps ensure that APIs return correct data and function as required.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: Verify payment gateway API works correctly.</a:t>
            </a:r>
          </a:p>
          <a:p>
            <a:pPr marL="0" indent="0">
              <a:buNone/>
            </a:pPr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2.Selenium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: Used for automated UI testing of web applications.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: Test the registration process on an e-commerce site.</a:t>
            </a:r>
          </a:p>
          <a:p>
            <a:pPr marL="0" indent="0">
              <a:buNone/>
            </a:pPr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3.JIRA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: A project management tool used for tracking bugs and issues.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: Track bugs in the order management system </a:t>
            </a:r>
          </a:p>
          <a:p>
            <a:pPr marL="0" indent="0">
              <a:buNone/>
            </a:pPr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4.Jenkins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: Automates the process of testing and integration during development.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: Automatically run tests after each software update.</a:t>
            </a:r>
          </a:p>
          <a:p>
            <a:pPr marL="0" indent="0">
              <a:buNone/>
            </a:pPr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5.TestRail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: A tool for managing and organizing test cases and tracking testing progress.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: Manage test cases for a new feature, like an inventory management system.</a:t>
            </a:r>
          </a:p>
          <a:p>
            <a:pPr marL="0" indent="0">
              <a:buNone/>
            </a:pPr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6.LoadRunner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: Used for performance testing, </a:t>
            </a:r>
          </a:p>
          <a:p>
            <a:pPr marL="0" indent="0">
              <a:buNone/>
            </a:pPr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: Test the website’s performance during peak shopping hours.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IN" sz="110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5FDBD4-C6AF-AE09-556E-1B2CB650B9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70320" y="774797"/>
            <a:ext cx="4754880" cy="50773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BA’s Role in Testing: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Define Requirements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: Ensure the test cases align with business needs.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Track Progress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: Use tools like JIRA to track bugs and test progress.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Validate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: Participate in </a:t>
            </a:r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User Acceptance Testing (UAT)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to ensure the software meets business goals and user needs.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Collaborate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: Work with QA and developers to ensure the system works as expected.</a:t>
            </a:r>
          </a:p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E7EC0C6-97E8-4D01-5406-24FF685B37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4208" y="3517997"/>
            <a:ext cx="2915304" cy="244372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9909493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F6B1D-08D5-F2A5-CA1D-4F846E9DC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POSTMAN FOR API VALIDATION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0FDA-B2F4-075A-2E57-E6429A3B5F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799" y="1835779"/>
            <a:ext cx="10485353" cy="4578981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Steps to Use Postman for API Validation:</a:t>
            </a:r>
          </a:p>
          <a:p>
            <a:pPr marL="0" indent="0">
              <a:buNone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1.Identify the API to Test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       choose critical APIs like payment gateways or user authentication that support business functions.</a:t>
            </a:r>
          </a:p>
          <a:p>
            <a:pPr marL="0" indent="0">
              <a:buNone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b="1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.Send API Requests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Use GET, POST, PUT, or DELETE methods to interact with the API.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Set URL, headers, and body (for POST/PUT) to match business needs (e.g., sending user data).</a:t>
            </a:r>
          </a:p>
          <a:p>
            <a:pPr marL="0" indent="0">
              <a:buNone/>
            </a:pP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3.Validate Response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700" b="1">
                <a:latin typeface="Times New Roman" panose="02020603050405020304" pitchFamily="18" charset="0"/>
                <a:cs typeface="Times New Roman" panose="02020603050405020304" pitchFamily="18" charset="0"/>
              </a:rPr>
              <a:t>Status Code</a:t>
            </a:r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: Check if it’s 200 OK, 201 Created, etc.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700" b="1">
                <a:latin typeface="Times New Roman" panose="02020603050405020304" pitchFamily="18" charset="0"/>
                <a:cs typeface="Times New Roman" panose="02020603050405020304" pitchFamily="18" charset="0"/>
              </a:rPr>
              <a:t>Response Body</a:t>
            </a:r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: Ensure the correct data is returned (e.g., user info, payment success).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700" b="1">
                <a:latin typeface="Times New Roman" panose="02020603050405020304" pitchFamily="18" charset="0"/>
                <a:cs typeface="Times New Roman" panose="02020603050405020304" pitchFamily="18" charset="0"/>
              </a:rPr>
              <a:t>Response Time</a:t>
            </a:r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: Ensure the system responds in a timely manner.</a:t>
            </a:r>
          </a:p>
          <a:p>
            <a:pPr marL="0" indent="0">
              <a:buNone/>
            </a:pP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4.Write Tests (Assertions)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Write simple tests to check if the API returns the correct status and data.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pm.test("Status code is 200", function() {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pm.response.to.have.status(200);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    });</a:t>
            </a:r>
          </a:p>
          <a:p>
            <a:pPr marL="0" indent="0">
              <a:buNone/>
            </a:pP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5.Automate with Collections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Group requests into </a:t>
            </a:r>
            <a:r>
              <a:rPr lang="en-US" sz="1700" b="1">
                <a:latin typeface="Times New Roman" panose="02020603050405020304" pitchFamily="18" charset="0"/>
                <a:cs typeface="Times New Roman" panose="02020603050405020304" pitchFamily="18" charset="0"/>
              </a:rPr>
              <a:t>collections</a:t>
            </a:r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 for organized testing.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Use Newman to run tests automatically as part of a CI/CD pipeline.</a:t>
            </a:r>
          </a:p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1699A0-64A1-EA36-42BD-E01FE018BA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9504" y="3429000"/>
            <a:ext cx="3678541" cy="269957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8212116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9B296-BE7D-194F-A298-958230410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A8F14-1401-FDFF-9147-012F07DDD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4850786"/>
          </a:xfrm>
        </p:spPr>
        <p:txBody>
          <a:bodyPr>
            <a:normAutofit/>
          </a:bodyPr>
          <a:lstStyle/>
          <a:p>
            <a:r>
              <a:rPr lang="en-US" sz="5400"/>
              <a:t>        </a:t>
            </a:r>
            <a:br>
              <a:rPr lang="en-US" sz="5400"/>
            </a:br>
            <a:r>
              <a:rPr lang="en-US" sz="5400"/>
              <a:t>              </a:t>
            </a:r>
            <a:r>
              <a:rPr lang="en-US" sz="540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br>
              <a:rPr lang="en-US" sz="54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54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</a:t>
            </a:r>
            <a:r>
              <a:rPr lang="en-US" sz="180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BY:DRISHA.J</a:t>
            </a:r>
            <a:endParaRPr lang="en-IN" sz="1800" b="1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638213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TM03457510[[fn=Savon]]</Template>
  <TotalTime>1167</TotalTime>
  <Words>3579</Words>
  <Application>Microsoft Office PowerPoint</Application>
  <PresentationFormat>Widescreen</PresentationFormat>
  <Paragraphs>363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Century Gothic</vt:lpstr>
      <vt:lpstr>Garamond</vt:lpstr>
      <vt:lpstr>Times New Roman</vt:lpstr>
      <vt:lpstr>Wingdings</vt:lpstr>
      <vt:lpstr>Savon</vt:lpstr>
      <vt:lpstr>                  BUSINESS ANALYTICS                      PRESENTER: DRISHA.J</vt:lpstr>
      <vt:lpstr>          BUISNESS ANALYTICS</vt:lpstr>
      <vt:lpstr>          OVERVIEW OF TOPICS</vt:lpstr>
      <vt:lpstr>AGILE METHEDOLOGY</vt:lpstr>
      <vt:lpstr>         SCRUM FUNDAMENTALS</vt:lpstr>
      <vt:lpstr>PowerPoint Presentation</vt:lpstr>
      <vt:lpstr>                USER STORIES </vt:lpstr>
      <vt:lpstr>           ACCEPTANCE CRITERIA</vt:lpstr>
      <vt:lpstr>              UML DIAGRAMS</vt:lpstr>
      <vt:lpstr>          USE CASE DIAGRAM</vt:lpstr>
      <vt:lpstr>              ACTIVITY DIAGRAM</vt:lpstr>
      <vt:lpstr>          SEQUENCE DIAGRAM</vt:lpstr>
      <vt:lpstr>            REST APIs BASICS </vt:lpstr>
      <vt:lpstr>       Request–Response Flows</vt:lpstr>
      <vt:lpstr>          CLOUD OVERVIEW</vt:lpstr>
      <vt:lpstr>HIGH-LEVEL AWS &amp; AZURE CAPABILITIES</vt:lpstr>
      <vt:lpstr>            MACHINE LEARNING BASICS</vt:lpstr>
      <vt:lpstr>  High-Level Understanding of AI Use Cases </vt:lpstr>
      <vt:lpstr>              TESTING TOOLS</vt:lpstr>
      <vt:lpstr>PowerPoint Presentation</vt:lpstr>
      <vt:lpstr>POSTMAN FOR API VALIDATION</vt:lpstr>
      <vt:lpstr>                       THANK YOU                     PRESENTED BY:DRISHA.J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jenishjustin13@gmail.com</dc:creator>
  <cp:lastModifiedBy>Jenish J</cp:lastModifiedBy>
  <cp:revision>4</cp:revision>
  <dcterms:created xsi:type="dcterms:W3CDTF">2025-09-30T11:45:34Z</dcterms:created>
  <dcterms:modified xsi:type="dcterms:W3CDTF">2025-10-05T15:38:19Z</dcterms:modified>
</cp:coreProperties>
</file>